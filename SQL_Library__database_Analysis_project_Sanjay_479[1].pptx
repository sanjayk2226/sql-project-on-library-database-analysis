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0" r:id="rId7"/>
    <p:sldId id="275" r:id="rId8"/>
    <p:sldId id="279" r:id="rId9"/>
    <p:sldId id="265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6" r:id="rId19"/>
    <p:sldId id="277" r:id="rId20"/>
    <p:sldId id="259" r:id="rId21"/>
  </p:sldIdLst>
  <p:sldSz cx="12192000" cy="6858000"/>
  <p:notesSz cx="6858000" cy="9144000"/>
  <p:embeddedFontLst>
    <p:embeddedFont>
      <p:font typeface="Calibri" panose="020F0502020204030204"/>
      <p:regular r:id="rId25"/>
    </p:embeddedFont>
    <p:embeddedFont>
      <p:font typeface="Lato Black" panose="020F0802020204030203"/>
      <p:bold r:id="rId26"/>
      <p:boldItalic r:id="rId27"/>
    </p:embeddedFont>
    <p:embeddedFont>
      <p:font typeface="Libre Baskerville" panose="02000000000000000000"/>
      <p:regular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font" Target="fonts/font4.fntdata"/><Relationship Id="rId27" Type="http://schemas.openxmlformats.org/officeDocument/2006/relationships/font" Target="fonts/font3.fntdata"/><Relationship Id="rId26" Type="http://schemas.openxmlformats.org/officeDocument/2006/relationships/font" Target="fonts/font2.fntdata"/><Relationship Id="rId25" Type="http://schemas.openxmlformats.org/officeDocument/2006/relationships/font" Target="fonts/font1.fntdata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</a:pPr>
          </a:p>
        </p:txBody>
      </p:sp>
      <p:sp>
        <p:nvSpPr>
          <p:cNvPr id="96" name="Google Shape;96;p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02" name="Google Shape;102;p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08" name="Google Shape;108;p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</a:p>
        </p:txBody>
      </p:sp>
      <p:sp>
        <p:nvSpPr>
          <p:cNvPr id="114" name="Google Shape;114;p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7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0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6" name="Google Shape;36;p8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3" name="Google Shape;43;p11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58" name="Google Shape;58;p13"/>
          <p:cNvSpPr txBox="1"/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60" name="Google Shape;60;p13"/>
          <p:cNvSpPr txBox="1"/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8" name="Google Shape;68;p14"/>
          <p:cNvSpPr txBox="1"/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4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5"/>
          <p:cNvSpPr/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/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15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6"/>
          <p:cNvSpPr txBox="1"/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6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6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6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94405"/>
            <a:ext cx="10800000" cy="792000"/>
          </a:xfrm>
        </p:spPr>
        <p:txBody>
          <a:bodyPr lIns="0" tIns="0" rIns="0" bIns="0"/>
          <a:lstStyle>
            <a:lvl1pPr algn="ctr" fontAlgn="base"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1" name="Google Shape;11;p6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312420" y="-99695"/>
            <a:ext cx="12310110" cy="691007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160020" y="3717925"/>
            <a:ext cx="6162675" cy="156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200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Titl</a:t>
            </a:r>
            <a:r>
              <a:rPr lang="en-IN" altLang="en-US" sz="3200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</a:t>
            </a:r>
            <a:r>
              <a:rPr lang="en-IN" alt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  </a:t>
            </a:r>
            <a:r>
              <a:rPr lang="en-US" altLang="en-US"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Library Database Analysis</a:t>
            </a:r>
            <a:endParaRPr lang="en-US" altLang="en-US" sz="3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200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Subtitle</a:t>
            </a:r>
            <a:r>
              <a:rPr lang="en-US" alt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</a:t>
            </a:r>
            <a:r>
              <a:rPr lang="en-IN" alt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</a:t>
            </a:r>
            <a:r>
              <a:rPr lang="en-US" alt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An </a:t>
            </a:r>
            <a:r>
              <a:rPr lang="en-IN" alt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SQL </a:t>
            </a:r>
            <a:r>
              <a:rPr lang="en-US" alt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Analysis Project</a:t>
            </a:r>
            <a:r>
              <a:rPr lang="en-IN" alt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IN" altLang="en-US" sz="3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sanjay kommuju -- 479 batch</a:t>
            </a:r>
            <a:endParaRPr sz="3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" name="Picture Placeholder 1" descr="C:/Users/kommuju sanjay/Downloads/Library photo.jpgLibrary photo"/>
          <p:cNvPicPr>
            <a:picLocks noChangeAspect="1"/>
          </p:cNvPicPr>
          <p:nvPr>
            <p:ph type="pic" idx="2"/>
          </p:nvPr>
        </p:nvPicPr>
        <p:blipFill>
          <a:blip r:embed="rId2"/>
          <a:srcRect l="15485" r="15485"/>
          <a:stretch>
            <a:fillRect/>
          </a:stretch>
        </p:blipFill>
        <p:spPr>
          <a:xfrm>
            <a:off x="7320280" y="2492375"/>
            <a:ext cx="4601210" cy="32594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41910" y="10795"/>
            <a:ext cx="6343650" cy="6724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 panose="020F0802020204030203"/>
              <a:buNone/>
            </a:pPr>
            <a:r>
              <a:rPr lang="en-IN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</a:t>
            </a:r>
            <a:r>
              <a:rPr lang="en-IN" sz="1800">
                <a:solidFill>
                  <a:srgbClr val="FF0000"/>
                </a:solidFill>
                <a:latin typeface="Lato Black" panose="020F0802020204030203"/>
                <a:ea typeface="Lato Black" panose="020F0802020204030203"/>
                <a:cs typeface="Lato Black" panose="020F0802020204030203"/>
                <a:sym typeface="Lato Black" panose="020F0802020204030203"/>
              </a:rPr>
              <a:t>About me: </a:t>
            </a:r>
            <a:endParaRPr lang="en-IN" sz="1800">
              <a:solidFill>
                <a:srgbClr val="FF0000"/>
              </a:solidFill>
              <a:latin typeface="Lato Black" panose="020F0802020204030203"/>
              <a:ea typeface="Lato Black" panose="020F0802020204030203"/>
              <a:cs typeface="Lato Black" panose="020F0802020204030203"/>
              <a:sym typeface="Lato Black" panose="020F0802020204030203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 panose="020F0802020204030203"/>
              <a:buNone/>
            </a:pPr>
            <a:endParaRPr lang="en-IN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 panose="020F0802020204030203"/>
              <a:buNone/>
            </a:pPr>
            <a:r>
              <a:rPr lang="en-IN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1.Background - B.tech in mechanical engineering</a:t>
            </a:r>
            <a:endParaRPr lang="en-IN" sz="18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endParaRPr lang="en-IN" sz="18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IN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Why you want to learn Data Science</a:t>
            </a:r>
            <a:endParaRPr lang="en-IN" sz="18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IN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(actually my course is data analyst , </a:t>
            </a:r>
            <a:r>
              <a:rPr lang="en-US" altLang="en-US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transitioning into the IT and Data Analytics domain. Hands-on exposure to</a:t>
            </a:r>
            <a:r>
              <a:rPr lang="en-IN" altLang="en-US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altLang="en-US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AWS Engineer Trainee</a:t>
            </a:r>
            <a:r>
              <a:rPr lang="en-IN" altLang="en-US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altLang="en-US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role</a:t>
            </a:r>
            <a:r>
              <a:rPr lang="en-IN" altLang="en-US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altLang="en-US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and currently undergoing Data Analytics </a:t>
            </a:r>
            <a:r>
              <a:rPr lang="en-IN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because of i much interested </a:t>
            </a:r>
            <a:r>
              <a:rPr lang="en-US" altLang="en-US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in analytics and data-driven roles</a:t>
            </a:r>
            <a:r>
              <a:rPr lang="en-IN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)</a:t>
            </a:r>
            <a:endParaRPr lang="en-IN" sz="18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endParaRPr sz="18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IN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3. Any work experience</a:t>
            </a:r>
            <a:endParaRPr lang="en-IN" sz="18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IN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(experience  as </a:t>
            </a:r>
            <a:r>
              <a:rPr lang="en-US" altLang="en-US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  AWS Engineer Trainee</a:t>
            </a:r>
            <a:r>
              <a:rPr lang="en-IN" altLang="en-US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altLang="en-US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role </a:t>
            </a:r>
            <a:r>
              <a:rPr lang="en-IN" altLang="en-US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 sonix IT solutins </a:t>
            </a:r>
            <a:endParaRPr lang="en-IN" altLang="en-US" sz="18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altLang="en-US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Experience working with dashboards,</a:t>
            </a:r>
            <a:r>
              <a:rPr lang="en-IN" altLang="en-US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EC2 , VPC,</a:t>
            </a:r>
            <a:r>
              <a:rPr lang="en-US" altLang="en-US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IN" altLang="en-US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Policies </a:t>
            </a:r>
            <a:r>
              <a:rPr lang="en-US" altLang="en-US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, and automation, which built strong analytical and problem-solving </a:t>
            </a:r>
            <a:endParaRPr lang="en-US" altLang="en-US" sz="18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altLang="en-US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Passionate about turning raw data into clear insights and building dashboards for business decisions.</a:t>
            </a:r>
            <a:r>
              <a:rPr lang="en-IN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)</a:t>
            </a:r>
            <a:endParaRPr lang="en-IN" sz="18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endParaRPr sz="18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•"/>
            </a:pPr>
            <a:r>
              <a:rPr lang="en-IN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4.Share your linkedin and github profile urls</a:t>
            </a:r>
            <a:endParaRPr lang="en-IN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•"/>
            </a:pPr>
            <a:r>
              <a:rPr lang="en-IN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linkedlin url -- </a:t>
            </a:r>
            <a:r>
              <a:rPr lang="en-US" altLang="en-US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www.linkedin.com/in/sanjay-kommuju-99ba24251</a:t>
            </a:r>
            <a:endParaRPr lang="en-US" altLang="en-US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•"/>
            </a:pPr>
            <a:r>
              <a:rPr lang="en-IN" altLang="en-US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github url -- </a:t>
            </a:r>
            <a:r>
              <a:rPr lang="en-US" altLang="en-US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https://github.com/sanjayk2226</a:t>
            </a:r>
            <a:endParaRPr sz="1800" b="0" i="0" u="none" strike="noStrike" cap="none">
              <a:solidFill>
                <a:srgbClr val="FF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 panose="020F0502020204030204"/>
              <a:buNone/>
            </a:pPr>
            <a:r>
              <a:rPr lang="en-IN" sz="2800" b="1">
                <a:solidFill>
                  <a:srgbClr val="FF0000"/>
                </a:solidFill>
              </a:rPr>
              <a:t>Agenda:</a:t>
            </a:r>
            <a:endParaRPr sz="2800" b="1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/>
          <p:nvPr>
            <p:ph type="body" idx="1"/>
          </p:nvPr>
        </p:nvSpPr>
        <p:spPr>
          <a:xfrm>
            <a:off x="110490" y="907415"/>
            <a:ext cx="11090275" cy="5362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54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IN" sz="2400" b="1">
                <a:solidFill>
                  <a:srgbClr val="00B0F0"/>
                </a:solidFill>
              </a:rPr>
              <a:t>Objective of the Project :</a:t>
            </a:r>
            <a:r>
              <a:rPr lang="en-US" altLang="en-US" sz="2400" b="1">
                <a:solidFill>
                  <a:schemeClr val="tx1"/>
                </a:solidFill>
              </a:rPr>
              <a:t>The objective of this project is to design and implement an</a:t>
            </a:r>
            <a:r>
              <a:rPr lang="en-IN" altLang="en-US" sz="2400" b="1">
                <a:solidFill>
                  <a:schemeClr val="tx1"/>
                </a:solidFill>
              </a:rPr>
              <a:t> Library</a:t>
            </a:r>
            <a:r>
              <a:rPr lang="en-US" altLang="en-US" sz="2400" b="1">
                <a:solidFill>
                  <a:schemeClr val="tx1"/>
                </a:solidFill>
              </a:rPr>
              <a:t> Management System that efficiently stores and manages </a:t>
            </a:r>
            <a:r>
              <a:rPr lang="en-IN" altLang="en-US" sz="2400" b="1">
                <a:solidFill>
                  <a:schemeClr val="tx1"/>
                </a:solidFill>
              </a:rPr>
              <a:t>Library</a:t>
            </a:r>
            <a:r>
              <a:rPr lang="en-US" altLang="en-US" sz="2400" b="1">
                <a:solidFill>
                  <a:schemeClr val="tx1"/>
                </a:solidFill>
              </a:rPr>
              <a:t>-related data</a:t>
            </a:r>
            <a:r>
              <a:rPr lang="en-US" altLang="en-US" sz="2400" b="1">
                <a:solidFill>
                  <a:srgbClr val="00B0F0"/>
                </a:solidFill>
              </a:rPr>
              <a:t> </a:t>
            </a:r>
            <a:endParaRPr lang="en-US" altLang="en-US" sz="2400" b="1">
              <a:solidFill>
                <a:srgbClr val="00B0F0"/>
              </a:solidFill>
            </a:endParaRPr>
          </a:p>
          <a:p>
            <a:pPr marL="254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 altLang="en-US" sz="2400" b="1">
                <a:solidFill>
                  <a:schemeClr val="tx1"/>
                </a:solidFill>
              </a:rPr>
              <a:t>To design a structured relational database for library records</a:t>
            </a:r>
            <a:endParaRPr lang="en-US" altLang="en-US" sz="2400" b="1">
              <a:solidFill>
                <a:schemeClr val="tx1"/>
              </a:solidFill>
            </a:endParaRPr>
          </a:p>
          <a:p>
            <a:pPr marL="254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 altLang="en-US" sz="2400" b="1">
                <a:solidFill>
                  <a:schemeClr val="tx1"/>
                </a:solidFill>
              </a:rPr>
              <a:t>To manage books, borrowers, and library branches efficiently</a:t>
            </a:r>
            <a:endParaRPr lang="en-US" altLang="en-US" sz="2400" b="1">
              <a:solidFill>
                <a:schemeClr val="tx1"/>
              </a:solidFill>
            </a:endParaRPr>
          </a:p>
          <a:p>
            <a:pPr marL="254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 altLang="en-US" sz="2400" b="1">
                <a:solidFill>
                  <a:schemeClr val="tx1"/>
                </a:solidFill>
              </a:rPr>
              <a:t>To track book borrowing and returning transactions</a:t>
            </a:r>
            <a:endParaRPr lang="en-US" altLang="en-US" sz="2400" b="1">
              <a:solidFill>
                <a:schemeClr val="tx1"/>
              </a:solidFill>
            </a:endParaRPr>
          </a:p>
          <a:p>
            <a:pPr marL="254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 altLang="en-US" sz="2400" b="1">
                <a:solidFill>
                  <a:schemeClr val="tx1"/>
                </a:solidFill>
              </a:rPr>
              <a:t>To retrieve information using SQL queries for analysis and reporting</a:t>
            </a:r>
            <a:endParaRPr lang="en-US" altLang="en-US" sz="2400" b="1">
              <a:solidFill>
                <a:schemeClr val="tx1"/>
              </a:solidFill>
            </a:endParaRPr>
          </a:p>
          <a:p>
            <a:pPr marL="254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IN" altLang="en-US" sz="2400" b="1">
                <a:solidFill>
                  <a:schemeClr val="tx1"/>
                </a:solidFill>
              </a:rPr>
              <a:t> </a:t>
            </a:r>
            <a:endParaRPr lang="en-IN" altLang="en-US" sz="2400" b="1">
              <a:solidFill>
                <a:schemeClr val="tx1"/>
              </a:solidFill>
            </a:endParaRPr>
          </a:p>
          <a:p>
            <a:pPr marL="254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 altLang="en-US" sz="2400" b="1">
                <a:solidFill>
                  <a:schemeClr val="tx1"/>
                </a:solidFill>
              </a:rPr>
              <a:t>A Library Management System is a database-driven application designed to manage book records, user information, </a:t>
            </a:r>
            <a:r>
              <a:rPr lang="en-IN" altLang="en-US" sz="2400" b="1">
                <a:solidFill>
                  <a:schemeClr val="tx1"/>
                </a:solidFill>
              </a:rPr>
              <a:t>Authors info </a:t>
            </a:r>
            <a:r>
              <a:rPr lang="en-US" altLang="en-US" sz="2400" b="1">
                <a:solidFill>
                  <a:schemeClr val="tx1"/>
                </a:solidFill>
              </a:rPr>
              <a:t>and borrowing transactions.</a:t>
            </a:r>
            <a:endParaRPr lang="en-US" altLang="en-US" sz="2400" b="1">
              <a:solidFill>
                <a:schemeClr val="tx1"/>
              </a:solidFill>
            </a:endParaRPr>
          </a:p>
          <a:p>
            <a:pPr marL="254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 altLang="en-US" sz="2400" b="1">
                <a:solidFill>
                  <a:schemeClr val="tx1"/>
                </a:solidFill>
              </a:rPr>
              <a:t>Traditional library management methods are manual and time-consuming, which may lead to data inconsistencies and inefficiencies</a:t>
            </a:r>
            <a:endParaRPr lang="en-US" altLang="en-US" sz="2400" b="1">
              <a:solidFill>
                <a:schemeClr val="tx1"/>
              </a:solidFill>
            </a:endParaRPr>
          </a:p>
          <a:p>
            <a:pPr marL="254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lang="en-US" altLang="en-US" sz="2400" b="1">
              <a:solidFill>
                <a:schemeClr val="tx1"/>
              </a:solidFill>
            </a:endParaRPr>
          </a:p>
          <a:p>
            <a:pPr marL="254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lang="en-US" altLang="en-US" sz="1800" b="1">
              <a:solidFill>
                <a:schemeClr val="tx1"/>
              </a:solidFill>
            </a:endParaRPr>
          </a:p>
          <a:p>
            <a:pPr marL="254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lang="en-US" altLang="en-US" sz="1800" b="1">
              <a:solidFill>
                <a:schemeClr val="tx1"/>
              </a:solidFill>
            </a:endParaRPr>
          </a:p>
          <a:p>
            <a:pPr marL="254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lang="en-US" altLang="en-US" sz="1800" b="1">
              <a:solidFill>
                <a:schemeClr val="tx1"/>
              </a:solidFill>
            </a:endParaRPr>
          </a:p>
          <a:p>
            <a:pPr marL="254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lang="en-US" altLang="en-US" sz="18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93980" y="86995"/>
            <a:ext cx="4573270" cy="815975"/>
          </a:xfrm>
        </p:spPr>
        <p:txBody>
          <a:bodyPr>
            <a:normAutofit/>
          </a:bodyPr>
          <a:p>
            <a:r>
              <a:rPr lang="en-US" altLang="en-US" sz="3200">
                <a:solidFill>
                  <a:srgbClr val="FF0000"/>
                </a:solidFill>
              </a:rPr>
              <a:t>Problem Statement</a:t>
            </a:r>
            <a:r>
              <a:rPr lang="en-IN" altLang="en-US" sz="3200">
                <a:solidFill>
                  <a:srgbClr val="FF0000"/>
                </a:solidFill>
              </a:rPr>
              <a:t>:</a:t>
            </a:r>
            <a:endParaRPr lang="en-IN" altLang="en-US" sz="3200">
              <a:solidFill>
                <a:srgbClr val="FF0000"/>
              </a:solidFill>
            </a:endParaRPr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243840" y="1137920"/>
            <a:ext cx="11109960" cy="5039360"/>
          </a:xfrm>
        </p:spPr>
        <p:txBody>
          <a:bodyPr>
            <a:noAutofit/>
          </a:bodyPr>
          <a:p>
            <a:pPr marL="114300" indent="0">
              <a:buNone/>
            </a:pPr>
            <a:r>
              <a:rPr lang="en-IN" altLang="en-US" sz="2000"/>
              <a:t>  </a:t>
            </a:r>
            <a:r>
              <a:rPr lang="en-US" altLang="en-US" sz="2000"/>
              <a:t>Many libraries still maintain records manually or in poorly structured systems. This leads to several challenges: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Difficulty tracking book availability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Time-consuming manual record maintenance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Risk of data duplication or loss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Inefficient search and reporting of books and borrowers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Therefore, a structured database system is required to manage library operations effectively</a:t>
            </a:r>
            <a:endParaRPr lang="en-US" altLang="en-US"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 altLang="en-US" sz="3200">
                <a:solidFill>
                  <a:srgbClr val="FF0000"/>
                </a:solidFill>
              </a:rPr>
              <a:t>Tools Used</a:t>
            </a:r>
            <a:r>
              <a:rPr lang="en-IN" altLang="en-US" sz="3200">
                <a:solidFill>
                  <a:srgbClr val="FF0000"/>
                </a:solidFill>
              </a:rPr>
              <a:t>:</a:t>
            </a:r>
            <a:endParaRPr lang="en-IN" altLang="en-US" sz="3200">
              <a:solidFill>
                <a:srgbClr val="FF0000"/>
              </a:solidFill>
            </a:endParaRPr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415925" y="1334135"/>
            <a:ext cx="10937875" cy="4843145"/>
          </a:xfrm>
        </p:spPr>
        <p:txBody>
          <a:bodyPr>
            <a:normAutofit fontScale="80000"/>
          </a:bodyPr>
          <a:p>
            <a:r>
              <a:rPr lang="en-US" altLang="en-US"/>
              <a:t>SQL  – Database creation and querying</a:t>
            </a:r>
            <a:endParaRPr lang="en-US" altLang="en-US"/>
          </a:p>
          <a:p>
            <a:r>
              <a:rPr lang="en-US" altLang="en-US"/>
              <a:t>DBMS Concepts – Data organization and relationships</a:t>
            </a:r>
            <a:endParaRPr lang="en-US" altLang="en-US"/>
          </a:p>
          <a:p>
            <a:r>
              <a:rPr lang="en-IN" altLang="en-US"/>
              <a:t>Power Point &amp; Dataset</a:t>
            </a:r>
            <a:endParaRPr lang="en-US" altLang="en-US"/>
          </a:p>
          <a:p>
            <a:pPr marL="114300" indent="0">
              <a:buNone/>
            </a:pPr>
            <a:r>
              <a:rPr lang="en-IN" altLang="en-US">
                <a:solidFill>
                  <a:srgbClr val="FF0000"/>
                </a:solidFill>
              </a:rPr>
              <a:t>Tables:</a:t>
            </a:r>
            <a:endParaRPr lang="en-IN" altLang="en-US">
              <a:solidFill>
                <a:srgbClr val="FF0000"/>
              </a:solidFill>
            </a:endParaRPr>
          </a:p>
          <a:p>
            <a:pPr marL="114300" indent="0">
              <a:buNone/>
            </a:pPr>
            <a:r>
              <a:rPr lang="en-IN" altLang="en-US">
                <a:solidFill>
                  <a:srgbClr val="002060"/>
                </a:solidFill>
              </a:rPr>
              <a:t>book </a:t>
            </a:r>
            <a:endParaRPr lang="en-IN" altLang="en-US">
              <a:solidFill>
                <a:srgbClr val="002060"/>
              </a:solidFill>
            </a:endParaRPr>
          </a:p>
          <a:p>
            <a:pPr marL="114300" indent="0">
              <a:buNone/>
            </a:pPr>
            <a:r>
              <a:rPr lang="en-IN" altLang="en-US">
                <a:solidFill>
                  <a:srgbClr val="002060"/>
                </a:solidFill>
              </a:rPr>
              <a:t>book_copies</a:t>
            </a:r>
            <a:endParaRPr lang="en-IN" altLang="en-US">
              <a:solidFill>
                <a:srgbClr val="002060"/>
              </a:solidFill>
            </a:endParaRPr>
          </a:p>
          <a:p>
            <a:pPr marL="114300" indent="0">
              <a:buNone/>
            </a:pPr>
            <a:r>
              <a:rPr lang="en-IN" altLang="en-US">
                <a:solidFill>
                  <a:srgbClr val="002060"/>
                </a:solidFill>
                <a:sym typeface="+mn-ea"/>
              </a:rPr>
              <a:t>book_authors</a:t>
            </a:r>
            <a:endParaRPr lang="en-IN" altLang="en-US">
              <a:solidFill>
                <a:srgbClr val="002060"/>
              </a:solidFill>
              <a:sym typeface="+mn-ea"/>
            </a:endParaRPr>
          </a:p>
          <a:p>
            <a:pPr marL="114300" indent="0">
              <a:buNone/>
            </a:pPr>
            <a:r>
              <a:rPr lang="en-IN" altLang="en-US">
                <a:solidFill>
                  <a:srgbClr val="002060"/>
                </a:solidFill>
                <a:sym typeface="+mn-ea"/>
              </a:rPr>
              <a:t>publisher</a:t>
            </a:r>
            <a:endParaRPr lang="en-IN" altLang="en-US">
              <a:solidFill>
                <a:srgbClr val="002060"/>
              </a:solidFill>
              <a:sym typeface="+mn-ea"/>
            </a:endParaRPr>
          </a:p>
          <a:p>
            <a:pPr marL="114300" indent="0">
              <a:buNone/>
            </a:pPr>
            <a:r>
              <a:rPr lang="en-IN" altLang="en-US">
                <a:solidFill>
                  <a:srgbClr val="002060"/>
                </a:solidFill>
                <a:sym typeface="+mn-ea"/>
              </a:rPr>
              <a:t>borrower</a:t>
            </a:r>
            <a:endParaRPr lang="en-IN" altLang="en-US">
              <a:solidFill>
                <a:srgbClr val="002060"/>
              </a:solidFill>
              <a:sym typeface="+mn-ea"/>
            </a:endParaRPr>
          </a:p>
          <a:p>
            <a:pPr marL="114300" indent="0">
              <a:buNone/>
            </a:pPr>
            <a:r>
              <a:rPr lang="en-IN" altLang="en-US">
                <a:solidFill>
                  <a:srgbClr val="002060"/>
                </a:solidFill>
                <a:sym typeface="+mn-ea"/>
              </a:rPr>
              <a:t>book_loans</a:t>
            </a:r>
            <a:endParaRPr lang="en-IN" altLang="en-US">
              <a:solidFill>
                <a:srgbClr val="002060"/>
              </a:solidFill>
              <a:sym typeface="+mn-ea"/>
            </a:endParaRPr>
          </a:p>
          <a:p>
            <a:pPr marL="114300" indent="0">
              <a:buNone/>
            </a:pPr>
            <a:r>
              <a:rPr lang="en-IN" altLang="en-US">
                <a:solidFill>
                  <a:srgbClr val="002060"/>
                </a:solidFill>
                <a:sym typeface="+mn-ea"/>
              </a:rPr>
              <a:t>library_branch</a:t>
            </a:r>
            <a:endParaRPr lang="en-IN" altLang="en-US">
              <a:solidFill>
                <a:srgbClr val="002060"/>
              </a:solidFill>
              <a:sym typeface="+mn-ea"/>
            </a:endParaRPr>
          </a:p>
          <a:p>
            <a:pPr marL="114300" indent="0">
              <a:buNone/>
            </a:pPr>
            <a:endParaRPr lang="en-IN" altLang="en-US">
              <a:solidFill>
                <a:srgbClr val="FF0000"/>
              </a:solidFill>
              <a:sym typeface="+mn-ea"/>
            </a:endParaRPr>
          </a:p>
          <a:p>
            <a:pPr marL="114300" indent="0">
              <a:buNone/>
            </a:pPr>
            <a:endParaRPr lang="en-IN" altLang="en-US">
              <a:solidFill>
                <a:srgbClr val="FF0000"/>
              </a:solidFill>
            </a:endParaRPr>
          </a:p>
          <a:p>
            <a:pPr marL="114300" indent="0">
              <a:buNone/>
            </a:pPr>
            <a:endParaRPr lang="en-IN" altLang="en-US">
              <a:solidFill>
                <a:srgbClr val="FF0000"/>
              </a:solidFill>
            </a:endParaRPr>
          </a:p>
          <a:p>
            <a:pPr marL="114300" indent="0">
              <a:buNone/>
            </a:pPr>
            <a:endParaRPr lang="en-IN" altLang="en-US">
              <a:solidFill>
                <a:srgbClr val="FF0000"/>
              </a:solidFill>
            </a:endParaRPr>
          </a:p>
          <a:p>
            <a:pPr marL="114300" indent="0">
              <a:buNone/>
            </a:pPr>
            <a:endParaRPr lang="en-IN" altLang="en-US">
              <a:solidFill>
                <a:srgbClr val="FF0000"/>
              </a:solidFill>
            </a:endParaRPr>
          </a:p>
          <a:p>
            <a:pPr marL="114300" indent="0">
              <a:buNone/>
            </a:pPr>
            <a:endParaRPr lang="en-US" altLang="en-US"/>
          </a:p>
          <a:p>
            <a:pPr marL="114300" indent="0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/>
          <p:nvPr>
            <p:ph type="title"/>
          </p:nvPr>
        </p:nvSpPr>
        <p:spPr>
          <a:xfrm>
            <a:off x="4158615" y="635"/>
            <a:ext cx="4213225" cy="612775"/>
          </a:xfrm>
        </p:spPr>
        <p:txBody>
          <a:bodyPr>
            <a:normAutofit fontScale="90000"/>
          </a:bodyPr>
          <a:p>
            <a:r>
              <a:rPr lang="en-IN" altLang="en-US" sz="3555">
                <a:solidFill>
                  <a:srgbClr val="FF0000"/>
                </a:solidFill>
              </a:rPr>
              <a:t>Tables and Dataset</a:t>
            </a:r>
            <a:endParaRPr lang="en-IN" altLang="en-US" sz="3555">
              <a:solidFill>
                <a:srgbClr val="FF0000"/>
              </a:solidFill>
            </a:endParaRPr>
          </a:p>
        </p:txBody>
      </p:sp>
      <p:sp>
        <p:nvSpPr>
          <p:cNvPr id="5" name="Text Placeholder 4"/>
          <p:cNvSpPr/>
          <p:nvPr>
            <p:ph type="body" idx="1"/>
          </p:nvPr>
        </p:nvSpPr>
        <p:spPr>
          <a:xfrm>
            <a:off x="184150" y="614045"/>
            <a:ext cx="5835650" cy="6137275"/>
          </a:xfrm>
        </p:spPr>
        <p:txBody>
          <a:bodyPr>
            <a:normAutofit/>
          </a:bodyPr>
          <a:p>
            <a:pPr marL="114300" indent="0">
              <a:buNone/>
            </a:pPr>
            <a:r>
              <a:rPr lang="en-IN" altLang="en-US">
                <a:sym typeface="+mn-ea"/>
              </a:rPr>
              <a:t>Book</a:t>
            </a:r>
            <a:r>
              <a:rPr lang="en-IN" altLang="en-US">
                <a:solidFill>
                  <a:srgbClr val="00B0F0"/>
                </a:solidFill>
                <a:sym typeface="+mn-ea"/>
              </a:rPr>
              <a:t>[</a:t>
            </a:r>
            <a:r>
              <a:rPr lang="en-US" altLang="en-US" sz="2000">
                <a:solidFill>
                  <a:srgbClr val="00B0F0"/>
                </a:solidFill>
                <a:sym typeface="+mn-ea"/>
              </a:rPr>
              <a:t>BookID,</a:t>
            </a:r>
            <a:r>
              <a:rPr lang="en-IN" altLang="en-US" sz="2000">
                <a:solidFill>
                  <a:srgbClr val="00B0F0"/>
                </a:solidFill>
                <a:sym typeface="+mn-ea"/>
              </a:rPr>
              <a:t> Title ,</a:t>
            </a:r>
            <a:r>
              <a:rPr lang="en-US" altLang="en-US" sz="2000">
                <a:solidFill>
                  <a:srgbClr val="00B0F0"/>
                </a:solidFill>
                <a:sym typeface="+mn-ea"/>
              </a:rPr>
              <a:t>PublisherName</a:t>
            </a:r>
            <a:r>
              <a:rPr lang="en-IN" altLang="en-US">
                <a:solidFill>
                  <a:srgbClr val="00B0F0"/>
                </a:solidFill>
                <a:sym typeface="+mn-ea"/>
              </a:rPr>
              <a:t>]</a:t>
            </a:r>
            <a:endParaRPr lang="en-IN" altLang="en-US"/>
          </a:p>
          <a:p>
            <a:pPr marL="114300" indent="0">
              <a:buNone/>
            </a:pPr>
            <a:endParaRPr lang="en-IN" altLang="en-US">
              <a:sym typeface="+mn-ea"/>
            </a:endParaRPr>
          </a:p>
          <a:p>
            <a:pPr marL="114300" indent="0">
              <a:buNone/>
            </a:pPr>
            <a:r>
              <a:rPr lang="en-IN" altLang="en-US">
                <a:sym typeface="+mn-ea"/>
              </a:rPr>
              <a:t>Book_Copies</a:t>
            </a:r>
            <a:endParaRPr lang="en-IN" altLang="en-US"/>
          </a:p>
          <a:p>
            <a:r>
              <a:rPr lang="en-IN" altLang="en-US">
                <a:solidFill>
                  <a:srgbClr val="00B0F0"/>
                </a:solidFill>
                <a:sym typeface="+mn-ea"/>
              </a:rPr>
              <a:t>[</a:t>
            </a:r>
            <a:r>
              <a:rPr lang="en-US" altLang="en-US" sz="2000">
                <a:solidFill>
                  <a:srgbClr val="00B0F0"/>
                </a:solidFill>
                <a:sym typeface="+mn-ea"/>
              </a:rPr>
              <a:t>CopiesID</a:t>
            </a:r>
            <a:r>
              <a:rPr lang="en-IN" altLang="en-US" sz="2000">
                <a:solidFill>
                  <a:srgbClr val="00B0F0"/>
                </a:solidFill>
                <a:sym typeface="+mn-ea"/>
              </a:rPr>
              <a:t>, </a:t>
            </a:r>
            <a:r>
              <a:rPr lang="en-US" altLang="en-US" sz="2000">
                <a:solidFill>
                  <a:srgbClr val="00B0F0"/>
                </a:solidFill>
                <a:sym typeface="+mn-ea"/>
              </a:rPr>
              <a:t>BookID</a:t>
            </a:r>
            <a:r>
              <a:rPr lang="en-IN" altLang="en-US" sz="2000">
                <a:solidFill>
                  <a:srgbClr val="00B0F0"/>
                </a:solidFill>
                <a:sym typeface="+mn-ea"/>
              </a:rPr>
              <a:t>, </a:t>
            </a:r>
            <a:r>
              <a:rPr lang="en-US" altLang="en-US" sz="2000">
                <a:solidFill>
                  <a:srgbClr val="00B0F0"/>
                </a:solidFill>
                <a:sym typeface="+mn-ea"/>
              </a:rPr>
              <a:t>BranchID</a:t>
            </a:r>
            <a:r>
              <a:rPr lang="en-IN" altLang="en-US" sz="2000">
                <a:solidFill>
                  <a:srgbClr val="00B0F0"/>
                </a:solidFill>
                <a:sym typeface="+mn-ea"/>
              </a:rPr>
              <a:t> ,</a:t>
            </a:r>
            <a:r>
              <a:rPr lang="en-US" altLang="en-US" sz="2000">
                <a:solidFill>
                  <a:srgbClr val="00B0F0"/>
                </a:solidFill>
                <a:sym typeface="+mn-ea"/>
              </a:rPr>
              <a:t>No_Of_Copies</a:t>
            </a:r>
            <a:r>
              <a:rPr lang="en-IN" altLang="en-US">
                <a:solidFill>
                  <a:srgbClr val="00B0F0"/>
                </a:solidFill>
                <a:sym typeface="+mn-ea"/>
              </a:rPr>
              <a:t>]</a:t>
            </a:r>
            <a:endParaRPr lang="en-IN" altLang="en-US">
              <a:solidFill>
                <a:srgbClr val="00B0F0"/>
              </a:solidFill>
            </a:endParaRPr>
          </a:p>
          <a:p>
            <a:endParaRPr lang="en-IN" altLang="en-US">
              <a:sym typeface="+mn-ea"/>
            </a:endParaRPr>
          </a:p>
          <a:p>
            <a:pPr marL="114300" indent="0">
              <a:buNone/>
            </a:pPr>
            <a:r>
              <a:rPr lang="en-IN" altLang="en-US">
                <a:sym typeface="+mn-ea"/>
              </a:rPr>
              <a:t>Book_Authors</a:t>
            </a:r>
            <a:endParaRPr lang="en-IN" altLang="en-US">
              <a:sym typeface="+mn-ea"/>
            </a:endParaRPr>
          </a:p>
          <a:p>
            <a:r>
              <a:rPr lang="en-IN" altLang="en-US">
                <a:solidFill>
                  <a:srgbClr val="00B0F0"/>
                </a:solidFill>
                <a:sym typeface="+mn-ea"/>
              </a:rPr>
              <a:t>[</a:t>
            </a:r>
            <a:r>
              <a:rPr lang="en-IN" altLang="en-US" sz="1800">
                <a:solidFill>
                  <a:srgbClr val="00B0F0"/>
                </a:solidFill>
                <a:sym typeface="+mn-ea"/>
              </a:rPr>
              <a:t>AuthorID ,BookID, AuthorName</a:t>
            </a:r>
            <a:r>
              <a:rPr lang="en-IN" altLang="en-US">
                <a:solidFill>
                  <a:srgbClr val="00B0F0"/>
                </a:solidFill>
                <a:sym typeface="+mn-ea"/>
              </a:rPr>
              <a:t>]</a:t>
            </a:r>
            <a:endParaRPr lang="en-IN" altLang="en-US">
              <a:solidFill>
                <a:srgbClr val="00B0F0"/>
              </a:solidFill>
              <a:sym typeface="+mn-ea"/>
            </a:endParaRPr>
          </a:p>
          <a:p>
            <a:endParaRPr lang="en-IN" altLang="en-US">
              <a:sym typeface="+mn-ea"/>
            </a:endParaRPr>
          </a:p>
          <a:p>
            <a:r>
              <a:rPr lang="en-US" altLang="en-US">
                <a:sym typeface="+mn-ea"/>
              </a:rPr>
              <a:t>Publisher</a:t>
            </a:r>
            <a:r>
              <a:rPr lang="en-US" altLang="en-US">
                <a:solidFill>
                  <a:srgbClr val="00B0F0"/>
                </a:solidFill>
                <a:sym typeface="+mn-ea"/>
              </a:rPr>
              <a:t>[</a:t>
            </a:r>
            <a:r>
              <a:rPr lang="en-US" altLang="en-US" sz="2000">
                <a:solidFill>
                  <a:srgbClr val="00B0F0"/>
                </a:solidFill>
                <a:sym typeface="+mn-ea"/>
              </a:rPr>
              <a:t>PublisherName,PublisherAddress,PublisherPhone</a:t>
            </a:r>
            <a:r>
              <a:rPr lang="en-US" altLang="en-US">
                <a:solidFill>
                  <a:srgbClr val="00B0F0"/>
                </a:solidFill>
                <a:sym typeface="+mn-ea"/>
              </a:rPr>
              <a:t>]</a:t>
            </a:r>
            <a:endParaRPr lang="en-US" altLang="en-US">
              <a:solidFill>
                <a:srgbClr val="00B0F0"/>
              </a:solidFill>
            </a:endParaRPr>
          </a:p>
          <a:p>
            <a:endParaRPr lang="en-US" altLang="en-US"/>
          </a:p>
          <a:p>
            <a:endParaRPr lang="en-IN" altLang="en-US">
              <a:sym typeface="+mn-ea"/>
            </a:endParaRPr>
          </a:p>
          <a:p>
            <a:endParaRPr lang="en-IN" altLang="en-US"/>
          </a:p>
          <a:p>
            <a:endParaRPr lang="en-IN" altLang="en-US"/>
          </a:p>
          <a:p>
            <a:endParaRPr lang="en-US"/>
          </a:p>
        </p:txBody>
      </p:sp>
      <p:sp>
        <p:nvSpPr>
          <p:cNvPr id="6" name="Text Placeholder 5"/>
          <p:cNvSpPr/>
          <p:nvPr>
            <p:ph type="body" idx="2"/>
          </p:nvPr>
        </p:nvSpPr>
        <p:spPr>
          <a:xfrm>
            <a:off x="6096635" y="646430"/>
            <a:ext cx="5257165" cy="5530850"/>
          </a:xfrm>
        </p:spPr>
        <p:txBody>
          <a:bodyPr/>
          <a:p>
            <a:pPr marL="114300" indent="0">
              <a:buNone/>
            </a:pPr>
            <a:r>
              <a:rPr lang="en-US" altLang="en-US"/>
              <a:t>Borrower</a:t>
            </a:r>
            <a:endParaRPr lang="en-US" altLang="en-US"/>
          </a:p>
          <a:p>
            <a:pPr marL="114300" indent="0">
              <a:buNone/>
            </a:pPr>
            <a:r>
              <a:rPr lang="en-US" altLang="en-US">
                <a:solidFill>
                  <a:srgbClr val="00B0F0"/>
                </a:solidFill>
              </a:rPr>
              <a:t>[</a:t>
            </a:r>
            <a:r>
              <a:rPr lang="en-US" altLang="en-US" sz="2000">
                <a:solidFill>
                  <a:srgbClr val="00B0F0"/>
                </a:solidFill>
              </a:rPr>
              <a:t>CardNo,BorrowerName,BorrowerAddress,BorrowerPhone</a:t>
            </a:r>
            <a:r>
              <a:rPr lang="en-US" altLang="en-US">
                <a:solidFill>
                  <a:srgbClr val="00B0F0"/>
                </a:solidFill>
              </a:rPr>
              <a:t>]</a:t>
            </a:r>
            <a:endParaRPr lang="en-US" altLang="en-US">
              <a:solidFill>
                <a:srgbClr val="00B0F0"/>
              </a:solidFill>
            </a:endParaRPr>
          </a:p>
          <a:p>
            <a:pPr marL="114300" indent="0">
              <a:buNone/>
            </a:pPr>
            <a:endParaRPr lang="en-US" altLang="en-US"/>
          </a:p>
          <a:p>
            <a:pPr marL="114300" indent="0">
              <a:buNone/>
            </a:pPr>
            <a:r>
              <a:rPr lang="en-IN" altLang="en-US"/>
              <a:t> </a:t>
            </a:r>
            <a:r>
              <a:rPr lang="en-US" altLang="en-US"/>
              <a:t>Book_loans</a:t>
            </a:r>
            <a:endParaRPr lang="en-US" altLang="en-US"/>
          </a:p>
          <a:p>
            <a:pPr marL="114300" indent="0">
              <a:buNone/>
            </a:pPr>
            <a:r>
              <a:rPr lang="en-US" altLang="en-US">
                <a:solidFill>
                  <a:srgbClr val="00B0F0"/>
                </a:solidFill>
              </a:rPr>
              <a:t>[</a:t>
            </a:r>
            <a:r>
              <a:rPr lang="en-US" altLang="en-US" sz="2000">
                <a:solidFill>
                  <a:srgbClr val="00B0F0"/>
                </a:solidFill>
              </a:rPr>
              <a:t>LoansID</a:t>
            </a:r>
            <a:r>
              <a:rPr lang="en-IN" altLang="en-US" sz="2000">
                <a:solidFill>
                  <a:srgbClr val="00B0F0"/>
                </a:solidFill>
              </a:rPr>
              <a:t> </a:t>
            </a:r>
            <a:r>
              <a:rPr lang="en-US" altLang="en-US" sz="2000">
                <a:solidFill>
                  <a:srgbClr val="00B0F0"/>
                </a:solidFill>
              </a:rPr>
              <a:t>,BookID</a:t>
            </a:r>
            <a:r>
              <a:rPr lang="en-IN" altLang="en-US" sz="2000">
                <a:solidFill>
                  <a:srgbClr val="00B0F0"/>
                </a:solidFill>
              </a:rPr>
              <a:t> </a:t>
            </a:r>
            <a:r>
              <a:rPr lang="en-US" altLang="en-US" sz="2000">
                <a:solidFill>
                  <a:srgbClr val="00B0F0"/>
                </a:solidFill>
              </a:rPr>
              <a:t>,BranchID</a:t>
            </a:r>
            <a:r>
              <a:rPr lang="en-IN" altLang="en-US" sz="2000">
                <a:solidFill>
                  <a:srgbClr val="00B0F0"/>
                </a:solidFill>
              </a:rPr>
              <a:t> </a:t>
            </a:r>
            <a:r>
              <a:rPr lang="en-US" altLang="en-US" sz="2000">
                <a:solidFill>
                  <a:srgbClr val="00B0F0"/>
                </a:solidFill>
              </a:rPr>
              <a:t>,CardNo</a:t>
            </a:r>
            <a:r>
              <a:rPr lang="en-IN" altLang="en-US" sz="2000">
                <a:solidFill>
                  <a:srgbClr val="00B0F0"/>
                </a:solidFill>
              </a:rPr>
              <a:t> </a:t>
            </a:r>
            <a:r>
              <a:rPr lang="en-US" altLang="en-US" sz="2000">
                <a:solidFill>
                  <a:srgbClr val="00B0F0"/>
                </a:solidFill>
              </a:rPr>
              <a:t>,DateOut,DueDate</a:t>
            </a:r>
            <a:r>
              <a:rPr lang="en-US" altLang="en-US">
                <a:solidFill>
                  <a:srgbClr val="00B0F0"/>
                </a:solidFill>
              </a:rPr>
              <a:t>]</a:t>
            </a:r>
            <a:endParaRPr lang="en-US" altLang="en-US">
              <a:solidFill>
                <a:srgbClr val="00B0F0"/>
              </a:solidFill>
            </a:endParaRPr>
          </a:p>
          <a:p>
            <a:pPr marL="114300" indent="0">
              <a:buNone/>
            </a:pPr>
            <a:endParaRPr lang="en-US" altLang="en-US"/>
          </a:p>
          <a:p>
            <a:pPr marL="114300" indent="0">
              <a:buNone/>
            </a:pPr>
            <a:r>
              <a:rPr lang="en-US" altLang="en-US"/>
              <a:t>Library_Branch</a:t>
            </a:r>
            <a:r>
              <a:rPr lang="en-US" altLang="en-US">
                <a:solidFill>
                  <a:srgbClr val="00B0F0"/>
                </a:solidFill>
              </a:rPr>
              <a:t>[</a:t>
            </a:r>
            <a:r>
              <a:rPr lang="en-US" altLang="en-US" sz="2000">
                <a:solidFill>
                  <a:srgbClr val="00B0F0"/>
                </a:solidFill>
              </a:rPr>
              <a:t>BranchID,</a:t>
            </a:r>
            <a:r>
              <a:rPr lang="en-IN" altLang="en-US" sz="2000">
                <a:solidFill>
                  <a:srgbClr val="00B0F0"/>
                </a:solidFill>
              </a:rPr>
              <a:t> </a:t>
            </a:r>
            <a:r>
              <a:rPr lang="en-US" altLang="en-US" sz="2000">
                <a:solidFill>
                  <a:srgbClr val="00B0F0"/>
                </a:solidFill>
              </a:rPr>
              <a:t>BranchName</a:t>
            </a:r>
            <a:r>
              <a:rPr lang="en-IN" altLang="en-US" sz="2000">
                <a:solidFill>
                  <a:srgbClr val="00B0F0"/>
                </a:solidFill>
              </a:rPr>
              <a:t> </a:t>
            </a:r>
            <a:r>
              <a:rPr lang="en-US" altLang="en-US" sz="2000">
                <a:solidFill>
                  <a:srgbClr val="00B0F0"/>
                </a:solidFill>
              </a:rPr>
              <a:t>,</a:t>
            </a:r>
            <a:r>
              <a:rPr lang="en-IN" altLang="en-US" sz="2000">
                <a:solidFill>
                  <a:srgbClr val="00B0F0"/>
                </a:solidFill>
              </a:rPr>
              <a:t> </a:t>
            </a:r>
            <a:r>
              <a:rPr lang="en-US" altLang="en-US" sz="2000">
                <a:solidFill>
                  <a:srgbClr val="00B0F0"/>
                </a:solidFill>
              </a:rPr>
              <a:t>BranchAddress</a:t>
            </a:r>
            <a:r>
              <a:rPr lang="en-US" altLang="en-US">
                <a:solidFill>
                  <a:srgbClr val="00B0F0"/>
                </a:solidFill>
              </a:rPr>
              <a:t>]</a:t>
            </a:r>
            <a:endParaRPr lang="en-US" altLang="en-US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193040" y="-6350"/>
            <a:ext cx="2139950" cy="612140"/>
          </a:xfrm>
        </p:spPr>
        <p:txBody>
          <a:bodyPr>
            <a:normAutofit fontScale="90000"/>
          </a:bodyPr>
          <a:p>
            <a:r>
              <a:rPr lang="en-IN" altLang="en-US">
                <a:solidFill>
                  <a:schemeClr val="accent1"/>
                </a:solidFill>
              </a:rPr>
              <a:t>ER Diagram:</a:t>
            </a:r>
            <a:endParaRPr lang="en-IN" altLang="en-US">
              <a:solidFill>
                <a:schemeClr val="accent1"/>
              </a:solidFill>
            </a:endParaRPr>
          </a:p>
        </p:txBody>
      </p:sp>
      <p:pic>
        <p:nvPicPr>
          <p:cNvPr id="7" name="Picture Placeholder 6" descr="Screenshot (110)"/>
          <p:cNvPicPr>
            <a:picLocks noChangeAspect="1"/>
          </p:cNvPicPr>
          <p:nvPr>
            <p:ph type="pic" idx="2"/>
          </p:nvPr>
        </p:nvPicPr>
        <p:blipFill>
          <a:blip r:embed="rId1"/>
          <a:stretch>
            <a:fillRect/>
          </a:stretch>
        </p:blipFill>
        <p:spPr>
          <a:xfrm>
            <a:off x="737235" y="558800"/>
            <a:ext cx="9522460" cy="570928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2222500" y="97155"/>
            <a:ext cx="9895840" cy="636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The ER Diagram represents the relationships between different entities in the library database</a:t>
            </a:r>
            <a:r>
              <a:rPr lang="en-IN" altLang="en-US"/>
              <a:t> as visually for better understanding</a:t>
            </a:r>
            <a:endParaRPr lang="en-I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>
                <a:solidFill>
                  <a:srgbClr val="FF0000"/>
                </a:solidFill>
              </a:rPr>
              <a:t>Key analysis questions (use cases)</a:t>
            </a:r>
            <a:r>
              <a:rPr lang="en-IN" altLang="en-US">
                <a:solidFill>
                  <a:srgbClr val="FF0000"/>
                </a:solidFill>
              </a:rPr>
              <a:t>:</a:t>
            </a:r>
            <a:endParaRPr lang="en-IN" altLang="en-US">
              <a:solidFill>
                <a:srgbClr val="FF0000"/>
              </a:solidFill>
            </a:endParaRPr>
          </a:p>
        </p:txBody>
      </p:sp>
      <p:sp>
        <p:nvSpPr>
          <p:cNvPr id="4" name="Text Placeholder 3"/>
          <p:cNvSpPr/>
          <p:nvPr>
            <p:ph type="body" idx="1"/>
          </p:nvPr>
        </p:nvSpPr>
        <p:spPr>
          <a:xfrm>
            <a:off x="245745" y="2023745"/>
            <a:ext cx="4717415" cy="4787265"/>
          </a:xfrm>
        </p:spPr>
        <p:txBody>
          <a:bodyPr/>
          <a:p>
            <a:r>
              <a:rPr lang="en-IN" altLang="en-US" sz="2000">
                <a:solidFill>
                  <a:srgbClr val="00B0F0"/>
                </a:solidFill>
              </a:rPr>
              <a:t>Analysis b/w book , book_copies and library_branch:</a:t>
            </a:r>
            <a:endParaRPr lang="en-IN" altLang="en-US" sz="2000">
              <a:solidFill>
                <a:srgbClr val="00B0F0"/>
              </a:solidFill>
            </a:endParaRPr>
          </a:p>
          <a:p>
            <a:r>
              <a:rPr lang="en-IN" altLang="en-US" sz="2000"/>
              <a:t>1. </a:t>
            </a:r>
            <a:r>
              <a:rPr lang="en-US" altLang="en-US" sz="2000"/>
              <a:t>How many copies of the book titled "The Lost Tribe" are owned by the library branch whose name is "Sharpstown"?</a:t>
            </a:r>
            <a:endParaRPr lang="en-US" altLang="en-US" sz="2000"/>
          </a:p>
          <a:p>
            <a:r>
              <a:rPr lang="en-IN" altLang="en-US" sz="2000"/>
              <a:t>description:</a:t>
            </a:r>
            <a:endParaRPr lang="en-IN" altLang="en-US" sz="2000"/>
          </a:p>
          <a:p>
            <a:r>
              <a:rPr lang="en-US" altLang="en-US" sz="2000"/>
              <a:t> •</a:t>
            </a:r>
            <a:r>
              <a:rPr lang="en-IN" altLang="en-US" sz="2000"/>
              <a:t> </a:t>
            </a:r>
            <a:r>
              <a:rPr lang="en-US" altLang="en-US" sz="2000"/>
              <a:t>the query performs JOIN operations across three tables:</a:t>
            </a:r>
            <a:endParaRPr lang="en-US" altLang="en-US" sz="2000"/>
          </a:p>
          <a:p>
            <a:r>
              <a:rPr lang="en-US" altLang="en-US" sz="2000"/>
              <a:t> •</a:t>
            </a:r>
            <a:r>
              <a:rPr lang="en-IN" altLang="en-US" sz="2000"/>
              <a:t> </a:t>
            </a:r>
            <a:r>
              <a:rPr lang="en-US" altLang="en-US" sz="2000"/>
              <a:t>Identified that 5 copies of the book "The Lost Tribe" are available in the Sharpstown branch</a:t>
            </a:r>
            <a:endParaRPr lang="en-US" altLang="en-US" sz="2000"/>
          </a:p>
          <a:p>
            <a:endParaRPr lang="en-IN" altLang="en-US" sz="2000"/>
          </a:p>
        </p:txBody>
      </p:sp>
      <p:sp>
        <p:nvSpPr>
          <p:cNvPr id="5" name="Text Box 4"/>
          <p:cNvSpPr txBox="1"/>
          <p:nvPr/>
        </p:nvSpPr>
        <p:spPr>
          <a:xfrm>
            <a:off x="4446905" y="146050"/>
            <a:ext cx="7599045" cy="65500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pic>
        <p:nvPicPr>
          <p:cNvPr id="10" name="Picture Placeholder 9" descr="Screenshot (112)"/>
          <p:cNvPicPr>
            <a:picLocks noChangeAspect="1"/>
          </p:cNvPicPr>
          <p:nvPr>
            <p:ph type="pic" idx="2"/>
          </p:nvPr>
        </p:nvPicPr>
        <p:blipFill>
          <a:blip r:embed="rId1"/>
          <a:stretch>
            <a:fillRect/>
          </a:stretch>
        </p:blipFill>
        <p:spPr>
          <a:xfrm>
            <a:off x="5231765" y="1268730"/>
            <a:ext cx="6019800" cy="42646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IN" altLang="en-US" sz="2000">
                <a:solidFill>
                  <a:srgbClr val="00B0F0"/>
                </a:solidFill>
                <a:sym typeface="+mn-ea"/>
              </a:rPr>
              <a:t>Analysis b/w book , book_copies and library_branch:</a:t>
            </a:r>
            <a:endParaRPr lang="en-US" sz="2000"/>
          </a:p>
        </p:txBody>
      </p:sp>
      <p:pic>
        <p:nvPicPr>
          <p:cNvPr id="5" name="Picture Placeholder 4" descr="Screenshot (114)"/>
          <p:cNvPicPr>
            <a:picLocks noChangeAspect="1"/>
          </p:cNvPicPr>
          <p:nvPr>
            <p:ph type="pic" idx="2"/>
          </p:nvPr>
        </p:nvPicPr>
        <p:blipFill>
          <a:blip r:embed="rId1"/>
          <a:stretch>
            <a:fillRect/>
          </a:stretch>
        </p:blipFill>
        <p:spPr>
          <a:xfrm>
            <a:off x="5216525" y="1290320"/>
            <a:ext cx="6105525" cy="4267200"/>
          </a:xfrm>
          <a:prstGeom prst="rect">
            <a:avLst/>
          </a:prstGeom>
        </p:spPr>
      </p:pic>
      <p:sp>
        <p:nvSpPr>
          <p:cNvPr id="4" name="Text Placeholder 3"/>
          <p:cNvSpPr/>
          <p:nvPr>
            <p:ph type="body" idx="1"/>
          </p:nvPr>
        </p:nvSpPr>
        <p:spPr/>
        <p:txBody>
          <a:bodyPr/>
          <a:p>
            <a:r>
              <a:rPr lang="en-IN" altLang="en-US"/>
              <a:t>2. </a:t>
            </a:r>
            <a:r>
              <a:rPr lang="en-US" altLang="en-US"/>
              <a:t>How many copies of the book titled "The Lost Tribe" are owned by each library branch?</a:t>
            </a:r>
            <a:endParaRPr lang="en-US" altLang="en-US"/>
          </a:p>
          <a:p>
            <a:r>
              <a:rPr lang="en-IN" altLang="en-US"/>
              <a:t>description:</a:t>
            </a:r>
            <a:endParaRPr lang="en-IN" altLang="en-US"/>
          </a:p>
          <a:p>
            <a:r>
              <a:rPr lang="en-US" altLang="en-US"/>
              <a:t> •</a:t>
            </a:r>
            <a:r>
              <a:rPr lang="en-IN" altLang="en-US"/>
              <a:t> </a:t>
            </a:r>
            <a:r>
              <a:rPr lang="en-US" altLang="en-US"/>
              <a:t>Analyzed distribution of "The Lost Tribe" across branches and found that multiple branches maintain copies, with some branches holding up to 5+ copies</a:t>
            </a:r>
            <a:endParaRPr lang="en-US" altLang="en-US"/>
          </a:p>
          <a:p>
            <a:r>
              <a:rPr lang="en-US" altLang="en-US"/>
              <a:t> •</a:t>
            </a:r>
            <a:r>
              <a:rPr lang="en-IN" altLang="en-US"/>
              <a:t> </a:t>
            </a:r>
            <a:r>
              <a:rPr lang="en-US" altLang="en-US"/>
              <a:t>ensuring balanced inventory allocatio</a:t>
            </a:r>
            <a:r>
              <a:rPr lang="en-IN" altLang="en-US"/>
              <a:t>n </a:t>
            </a:r>
            <a:r>
              <a:rPr lang="en-US" altLang="en-US"/>
              <a:t>branch-wise inventory variation</a:t>
            </a:r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IN" altLang="en-US" sz="2400">
                <a:solidFill>
                  <a:srgbClr val="00B0F0"/>
                </a:solidFill>
                <a:sym typeface="+mn-ea"/>
              </a:rPr>
              <a:t>Analysis b/w book_loans and borrower:</a:t>
            </a:r>
            <a:endParaRPr lang="en-US" sz="2400"/>
          </a:p>
        </p:txBody>
      </p:sp>
      <p:pic>
        <p:nvPicPr>
          <p:cNvPr id="5" name="Picture Placeholder 4" descr="Screenshot (116)"/>
          <p:cNvPicPr>
            <a:picLocks noChangeAspect="1"/>
          </p:cNvPicPr>
          <p:nvPr>
            <p:ph type="pic" idx="2"/>
          </p:nvPr>
        </p:nvPicPr>
        <p:blipFill>
          <a:blip r:embed="rId1"/>
          <a:stretch>
            <a:fillRect/>
          </a:stretch>
        </p:blipFill>
        <p:spPr>
          <a:xfrm>
            <a:off x="5183505" y="2191385"/>
            <a:ext cx="6172200" cy="2465070"/>
          </a:xfrm>
          <a:prstGeom prst="rect">
            <a:avLst/>
          </a:prstGeom>
        </p:spPr>
      </p:pic>
      <p:sp>
        <p:nvSpPr>
          <p:cNvPr id="4" name="Text Placeholder 3"/>
          <p:cNvSpPr/>
          <p:nvPr>
            <p:ph type="body" idx="1"/>
          </p:nvPr>
        </p:nvSpPr>
        <p:spPr/>
        <p:txBody>
          <a:bodyPr/>
          <a:p>
            <a:r>
              <a:rPr lang="en-IN" altLang="en-US"/>
              <a:t>3.</a:t>
            </a:r>
            <a:r>
              <a:rPr lang="en-US" altLang="en-US"/>
              <a:t> Retrieve the names of all borrowers who do not have any books checked out</a:t>
            </a:r>
            <a:endParaRPr lang="en-US" altLang="en-US"/>
          </a:p>
          <a:p>
            <a:r>
              <a:rPr lang="en-IN" altLang="en-US">
                <a:sym typeface="+mn-ea"/>
              </a:rPr>
              <a:t>description:</a:t>
            </a:r>
            <a:endParaRPr lang="en-IN" altLang="en-US"/>
          </a:p>
          <a:p>
            <a:r>
              <a:rPr lang="en-US" altLang="en-US">
                <a:sym typeface="+mn-ea"/>
              </a:rPr>
              <a:t> •</a:t>
            </a:r>
            <a:r>
              <a:rPr lang="en-IN" altLang="en-US">
                <a:sym typeface="+mn-ea"/>
              </a:rPr>
              <a:t> left table -- borrower &amp; right table-- book_loans</a:t>
            </a:r>
            <a:endParaRPr lang="en-IN" altLang="en-US">
              <a:sym typeface="+mn-ea"/>
            </a:endParaRPr>
          </a:p>
          <a:p>
            <a:r>
              <a:rPr lang="en-US" altLang="en-US">
                <a:sym typeface="+mn-ea"/>
              </a:rPr>
              <a:t> •</a:t>
            </a:r>
            <a:r>
              <a:rPr lang="en-IN" altLang="en-US">
                <a:sym typeface="+mn-ea"/>
              </a:rPr>
              <a:t> </a:t>
            </a:r>
            <a:r>
              <a:rPr lang="en-US" altLang="en-US">
                <a:sym typeface="+mn-ea"/>
              </a:rPr>
              <a:t>A LEFT JOIN is used to include all borrowers and match them with loan records</a:t>
            </a:r>
            <a:endParaRPr lang="en-US" altLang="en-US">
              <a:sym typeface="+mn-ea"/>
            </a:endParaRPr>
          </a:p>
          <a:p>
            <a:r>
              <a:rPr lang="en-US" altLang="en-US"/>
              <a:t> •</a:t>
            </a:r>
            <a:r>
              <a:rPr lang="en-IN" altLang="en-US"/>
              <a:t> </a:t>
            </a:r>
            <a:r>
              <a:rPr lang="en-US" altLang="en-US"/>
              <a:t>Identified borrowers with zero active loans, indicating low user engagement or inactive members</a:t>
            </a:r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IN" altLang="en-US" sz="2000">
                <a:solidFill>
                  <a:srgbClr val="00B0F0"/>
                </a:solidFill>
                <a:sym typeface="+mn-ea"/>
              </a:rPr>
              <a:t>Analysis b/w book_loans,book and library_branch:</a:t>
            </a:r>
            <a:endParaRPr lang="en-IN" altLang="en-US" sz="2000"/>
          </a:p>
        </p:txBody>
      </p:sp>
      <p:sp>
        <p:nvSpPr>
          <p:cNvPr id="4" name="Text Placeholder 3"/>
          <p:cNvSpPr/>
          <p:nvPr>
            <p:ph type="body" idx="1"/>
          </p:nvPr>
        </p:nvSpPr>
        <p:spPr/>
        <p:txBody>
          <a:bodyPr/>
          <a:p>
            <a:r>
              <a:rPr lang="en-IN" altLang="en-US"/>
              <a:t>4.</a:t>
            </a:r>
            <a:r>
              <a:rPr lang="en-US" altLang="en-US"/>
              <a:t>For each book that is loaned out from the "Sharpstown" branch and whose DueDate is 2/3/18, retrieve the book title, the borrower's name, and the borrower's address</a:t>
            </a:r>
            <a:endParaRPr lang="en-US" altLang="en-US"/>
          </a:p>
          <a:p>
            <a:r>
              <a:rPr lang="en-IN" altLang="en-US">
                <a:sym typeface="+mn-ea"/>
              </a:rPr>
              <a:t>description:</a:t>
            </a:r>
            <a:endParaRPr lang="en-IN" altLang="en-US">
              <a:sym typeface="+mn-ea"/>
            </a:endParaRPr>
          </a:p>
          <a:p>
            <a:r>
              <a:rPr lang="en-US" altLang="en-US"/>
              <a:t> •</a:t>
            </a:r>
            <a:r>
              <a:rPr lang="en-IN" altLang="en-US"/>
              <a:t> </a:t>
            </a:r>
            <a:r>
              <a:rPr lang="en-US" altLang="en-US"/>
              <a:t>Retrieved records of books </a:t>
            </a:r>
            <a:r>
              <a:rPr lang="en-IN" altLang="en-US"/>
              <a:t>Titles</a:t>
            </a:r>
            <a:r>
              <a:rPr lang="en-US" altLang="en-US"/>
              <a:t> from Sharpstown branch with due date 02/03/2018, identifying  active loan transactions</a:t>
            </a:r>
            <a:endParaRPr lang="en-US" altLang="en-US"/>
          </a:p>
          <a:p>
            <a:r>
              <a:rPr lang="en-US" altLang="en-US"/>
              <a:t> •</a:t>
            </a:r>
            <a:r>
              <a:rPr lang="en-IN" altLang="en-US"/>
              <a:t> </a:t>
            </a:r>
            <a:r>
              <a:rPr lang="en-US" altLang="en-US"/>
              <a:t>Enabled tracking of borrower details and overdue risk for specific timeframes</a:t>
            </a:r>
            <a:endParaRPr lang="en-US" altLang="en-US"/>
          </a:p>
        </p:txBody>
      </p:sp>
      <p:pic>
        <p:nvPicPr>
          <p:cNvPr id="7" name="Picture Placeholder 6" descr="Screenshot (118)"/>
          <p:cNvPicPr>
            <a:picLocks noChangeAspect="1"/>
          </p:cNvPicPr>
          <p:nvPr>
            <p:ph type="pic" idx="2"/>
          </p:nvPr>
        </p:nvPicPr>
        <p:blipFill>
          <a:blip r:embed="rId1"/>
          <a:stretch>
            <a:fillRect/>
          </a:stretch>
        </p:blipFill>
        <p:spPr>
          <a:xfrm>
            <a:off x="5183505" y="1886585"/>
            <a:ext cx="6172200" cy="30746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IN" altLang="en-US" sz="2400">
                <a:solidFill>
                  <a:srgbClr val="00B0F0"/>
                </a:solidFill>
                <a:sym typeface="+mn-ea"/>
              </a:rPr>
              <a:t>Analysis b/w library_branch and book_loans:</a:t>
            </a:r>
            <a:endParaRPr lang="en-US" sz="2400"/>
          </a:p>
        </p:txBody>
      </p:sp>
      <p:pic>
        <p:nvPicPr>
          <p:cNvPr id="5" name="Picture Placeholder 4" descr="Screenshot (119)"/>
          <p:cNvPicPr>
            <a:picLocks noChangeAspect="1"/>
          </p:cNvPicPr>
          <p:nvPr>
            <p:ph type="pic" idx="2"/>
          </p:nvPr>
        </p:nvPicPr>
        <p:blipFill>
          <a:blip r:embed="rId1"/>
          <a:stretch>
            <a:fillRect/>
          </a:stretch>
        </p:blipFill>
        <p:spPr>
          <a:xfrm>
            <a:off x="5183505" y="2393950"/>
            <a:ext cx="6172200" cy="2059305"/>
          </a:xfrm>
          <a:prstGeom prst="rect">
            <a:avLst/>
          </a:prstGeom>
        </p:spPr>
      </p:pic>
      <p:sp>
        <p:nvSpPr>
          <p:cNvPr id="4" name="Text Placeholder 3"/>
          <p:cNvSpPr/>
          <p:nvPr>
            <p:ph type="body" idx="1"/>
          </p:nvPr>
        </p:nvSpPr>
        <p:spPr/>
        <p:txBody>
          <a:bodyPr/>
          <a:p>
            <a:r>
              <a:rPr lang="en-IN" altLang="en-US"/>
              <a:t>5.</a:t>
            </a:r>
            <a:r>
              <a:rPr lang="en-US" altLang="en-US"/>
              <a:t> For each library branch, retrieve the branch name and the total number of books loaned out from that branch</a:t>
            </a:r>
            <a:endParaRPr lang="en-US" altLang="en-US"/>
          </a:p>
          <a:p>
            <a:r>
              <a:rPr lang="en-IN" altLang="en-US"/>
              <a:t>description:</a:t>
            </a:r>
            <a:endParaRPr lang="en-IN" altLang="en-US"/>
          </a:p>
          <a:p>
            <a:r>
              <a:rPr lang="en-US" altLang="en-US"/>
              <a:t> •</a:t>
            </a:r>
            <a:r>
              <a:rPr lang="en-IN" altLang="en-US"/>
              <a:t> </a:t>
            </a:r>
            <a:r>
              <a:rPr lang="en-US" altLang="en-US"/>
              <a:t>left table </a:t>
            </a:r>
            <a:r>
              <a:rPr lang="en-IN" altLang="en-US"/>
              <a:t>--</a:t>
            </a:r>
            <a:r>
              <a:rPr lang="en-US" altLang="en-US"/>
              <a:t>library_branch</a:t>
            </a:r>
            <a:r>
              <a:rPr lang="en-IN" altLang="en-US"/>
              <a:t> and right table-- book_loans</a:t>
            </a:r>
            <a:endParaRPr lang="en-IN" altLang="en-US"/>
          </a:p>
          <a:p>
            <a:r>
              <a:rPr lang="en-US" altLang="en-US"/>
              <a:t> •</a:t>
            </a:r>
            <a:r>
              <a:rPr lang="en-IN" altLang="en-US"/>
              <a:t> </a:t>
            </a:r>
            <a:r>
              <a:rPr lang="en-US" altLang="en-US"/>
              <a:t>Found that </a:t>
            </a:r>
            <a:r>
              <a:rPr lang="en-IN" altLang="en-US"/>
              <a:t>Central </a:t>
            </a:r>
            <a:r>
              <a:rPr lang="en-US" altLang="en-US"/>
              <a:t>branch issued the highest number of books  compared to other branches</a:t>
            </a:r>
            <a:endParaRPr lang="en-US" altLang="en-US"/>
          </a:p>
          <a:p>
            <a:r>
              <a:rPr lang="en-US" altLang="en-US"/>
              <a:t> •</a:t>
            </a:r>
            <a:r>
              <a:rPr lang="en-IN" altLang="en-US"/>
              <a:t> Central Branch = 11 </a:t>
            </a:r>
            <a:endParaRPr lang="en-I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IN" altLang="en-US" sz="2400">
                <a:solidFill>
                  <a:srgbClr val="00B0F0"/>
                </a:solidFill>
                <a:sym typeface="+mn-ea"/>
              </a:rPr>
              <a:t>Analysis b/w borrower and book _loans:</a:t>
            </a:r>
            <a:endParaRPr lang="en-IN" altLang="en-US" sz="2400"/>
          </a:p>
        </p:txBody>
      </p:sp>
      <p:pic>
        <p:nvPicPr>
          <p:cNvPr id="5" name="Picture Placeholder 4" descr="Screenshot (120)"/>
          <p:cNvPicPr>
            <a:picLocks noChangeAspect="1"/>
          </p:cNvPicPr>
          <p:nvPr>
            <p:ph type="pic" idx="2"/>
          </p:nvPr>
        </p:nvPicPr>
        <p:blipFill>
          <a:blip r:embed="rId1"/>
          <a:stretch>
            <a:fillRect/>
          </a:stretch>
        </p:blipFill>
        <p:spPr>
          <a:xfrm>
            <a:off x="4745355" y="2418080"/>
            <a:ext cx="6610350" cy="1885950"/>
          </a:xfrm>
          <a:prstGeom prst="rect">
            <a:avLst/>
          </a:prstGeom>
        </p:spPr>
      </p:pic>
      <p:sp>
        <p:nvSpPr>
          <p:cNvPr id="4" name="Text Placeholder 3"/>
          <p:cNvSpPr/>
          <p:nvPr>
            <p:ph type="body" idx="1"/>
          </p:nvPr>
        </p:nvSpPr>
        <p:spPr/>
        <p:txBody>
          <a:bodyPr>
            <a:normAutofit lnSpcReduction="10000"/>
          </a:bodyPr>
          <a:p>
            <a:r>
              <a:rPr lang="en-IN" altLang="en-US"/>
              <a:t>6.</a:t>
            </a:r>
            <a:r>
              <a:rPr lang="en-US" altLang="en-US"/>
              <a:t>Retrieve the names, addresses, and number of books checked out for all borrowers who have more than five books checked ou</a:t>
            </a:r>
            <a:r>
              <a:rPr lang="en-IN" altLang="en-US"/>
              <a:t>t</a:t>
            </a:r>
            <a:endParaRPr lang="en-IN" altLang="en-US"/>
          </a:p>
          <a:p>
            <a:r>
              <a:rPr lang="en-IN" altLang="en-US"/>
              <a:t>description:</a:t>
            </a:r>
            <a:endParaRPr lang="en-IN" altLang="en-US"/>
          </a:p>
          <a:p>
            <a:r>
              <a:rPr lang="en-US" altLang="en-US"/>
              <a:t> •</a:t>
            </a:r>
            <a:r>
              <a:rPr lang="en-IN" altLang="en-US"/>
              <a:t> </a:t>
            </a:r>
            <a:r>
              <a:rPr lang="en-US" altLang="en-US"/>
              <a:t>JOIN to connect the borrower table with the book_loans table using the borrower card number</a:t>
            </a:r>
            <a:endParaRPr lang="en-US" altLang="en-US"/>
          </a:p>
          <a:p>
            <a:r>
              <a:rPr lang="en-US" altLang="en-US"/>
              <a:t> •</a:t>
            </a:r>
            <a:r>
              <a:rPr lang="en-IN" altLang="en-US"/>
              <a:t> </a:t>
            </a:r>
            <a:r>
              <a:rPr lang="en-US" altLang="en-US"/>
              <a:t>Identified  borrowers who have issued more than 5 books, representing high-engagement users</a:t>
            </a:r>
            <a:r>
              <a:rPr lang="en-IN" altLang="en-US"/>
              <a:t>,</a:t>
            </a:r>
            <a:r>
              <a:rPr lang="en-US" altLang="en-US"/>
              <a:t>These users contribute significantly to library circulation activity</a:t>
            </a:r>
            <a:endParaRPr lang="en-US" altLang="en-US"/>
          </a:p>
          <a:p>
            <a:r>
              <a:rPr lang="en-US" altLang="en-US"/>
              <a:t> •</a:t>
            </a:r>
            <a:r>
              <a:rPr lang="en-IN" altLang="en-US"/>
              <a:t> joe smith= 7 , Tom Li =13, Tom Haverford=6</a:t>
            </a:r>
            <a:endParaRPr lang="en-I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>
            <a:normAutofit/>
          </a:bodyPr>
          <a:p>
            <a:r>
              <a:rPr lang="en-IN" altLang="en-US" sz="2220">
                <a:solidFill>
                  <a:srgbClr val="00B0F0"/>
                </a:solidFill>
                <a:sym typeface="+mn-ea"/>
              </a:rPr>
              <a:t>Analysis b/w book , book_author ,book_copies and library_branch:</a:t>
            </a:r>
            <a:endParaRPr lang="en-US" sz="2220"/>
          </a:p>
        </p:txBody>
      </p:sp>
      <p:pic>
        <p:nvPicPr>
          <p:cNvPr id="5" name="Picture Placeholder 4" descr="Screenshot (121)"/>
          <p:cNvPicPr>
            <a:picLocks noChangeAspect="1"/>
          </p:cNvPicPr>
          <p:nvPr>
            <p:ph type="pic" idx="2"/>
          </p:nvPr>
        </p:nvPicPr>
        <p:blipFill>
          <a:blip r:embed="rId1"/>
          <a:stretch>
            <a:fillRect/>
          </a:stretch>
        </p:blipFill>
        <p:spPr>
          <a:xfrm>
            <a:off x="5183505" y="2319020"/>
            <a:ext cx="6172200" cy="2209165"/>
          </a:xfrm>
          <a:prstGeom prst="rect">
            <a:avLst/>
          </a:prstGeom>
        </p:spPr>
      </p:pic>
      <p:sp>
        <p:nvSpPr>
          <p:cNvPr id="4" name="Text Placeholder 3"/>
          <p:cNvSpPr/>
          <p:nvPr>
            <p:ph type="body" idx="1"/>
          </p:nvPr>
        </p:nvSpPr>
        <p:spPr/>
        <p:txBody>
          <a:bodyPr/>
          <a:p>
            <a:r>
              <a:rPr lang="en-US" altLang="en-US"/>
              <a:t>7. For each book authored by "Stephen King", retrieve the title and the number of copies owned by the library branch whose name is "Central"</a:t>
            </a:r>
            <a:endParaRPr lang="en-US" altLang="en-US"/>
          </a:p>
          <a:p>
            <a:r>
              <a:rPr lang="en-IN" altLang="en-US"/>
              <a:t>description:</a:t>
            </a:r>
            <a:endParaRPr lang="en-IN" altLang="en-US"/>
          </a:p>
          <a:p>
            <a:r>
              <a:rPr lang="en-US" altLang="en-US"/>
              <a:t> •</a:t>
            </a:r>
            <a:r>
              <a:rPr lang="en-IN" altLang="en-US"/>
              <a:t> </a:t>
            </a:r>
            <a:r>
              <a:rPr lang="en-US" altLang="en-US"/>
              <a:t>Found that Central branch holds  copies of books authored by Stephen King, indicating strong availability of popular author content</a:t>
            </a:r>
            <a:endParaRPr lang="en-US" altLang="en-US"/>
          </a:p>
          <a:p>
            <a:r>
              <a:rPr lang="en-US" altLang="en-US"/>
              <a:t> •</a:t>
            </a:r>
            <a:r>
              <a:rPr lang="en-IN" altLang="en-US"/>
              <a:t> </a:t>
            </a:r>
            <a:r>
              <a:rPr lang="en-US" altLang="en-US"/>
              <a:t>Helps in understanding author-wise demand and stock planning</a:t>
            </a:r>
            <a:endParaRPr lang="en-US" altLang="en-US"/>
          </a:p>
          <a:p>
            <a:r>
              <a:rPr lang="en-US" altLang="en-US"/>
              <a:t> •</a:t>
            </a:r>
            <a:r>
              <a:rPr lang="en-IN" altLang="en-US"/>
              <a:t> It =5 and The Green Mile =5</a:t>
            </a:r>
            <a:endParaRPr lang="en-I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111760" y="24130"/>
            <a:ext cx="3173730" cy="1041400"/>
          </a:xfrm>
        </p:spPr>
        <p:txBody>
          <a:bodyPr/>
          <a:p>
            <a:r>
              <a:rPr lang="en-US" altLang="en-US">
                <a:solidFill>
                  <a:srgbClr val="FF0000"/>
                </a:solidFill>
              </a:rPr>
              <a:t>Conclusion (Key finding overall)</a:t>
            </a:r>
            <a:r>
              <a:rPr lang="en-IN" altLang="en-US">
                <a:solidFill>
                  <a:srgbClr val="FF0000"/>
                </a:solidFill>
              </a:rPr>
              <a:t>:</a:t>
            </a:r>
            <a:endParaRPr lang="en-IN" altLang="en-US">
              <a:solidFill>
                <a:srgbClr val="FF0000"/>
              </a:solidFill>
            </a:endParaRPr>
          </a:p>
        </p:txBody>
      </p:sp>
      <p:sp>
        <p:nvSpPr>
          <p:cNvPr id="4" name="Text Placeholder 3"/>
          <p:cNvSpPr/>
          <p:nvPr>
            <p:ph type="body" idx="1"/>
          </p:nvPr>
        </p:nvSpPr>
        <p:spPr>
          <a:xfrm>
            <a:off x="111125" y="1113155"/>
            <a:ext cx="11929745" cy="5640070"/>
          </a:xfrm>
        </p:spPr>
        <p:txBody>
          <a:bodyPr>
            <a:normAutofit/>
          </a:bodyPr>
          <a:p>
            <a:r>
              <a:rPr lang="en-US" altLang="en-US" sz="2000"/>
              <a:t>The Library Database Management System demonstrates how relational database design and SQL queries can effectively manage library records.</a:t>
            </a:r>
            <a:endParaRPr lang="en-US" altLang="en-US" sz="2000"/>
          </a:p>
          <a:p>
            <a:r>
              <a:rPr lang="en-US" altLang="en-US" sz="2000"/>
              <a:t>By structuring data into relational tables and using SQL for querying, the system enables efficient book tracking, borrower management, and information retrieval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>
                <a:solidFill>
                  <a:srgbClr val="00B0F0"/>
                </a:solidFill>
              </a:rPr>
              <a:t>Benefits of the </a:t>
            </a:r>
            <a:r>
              <a:rPr lang="en-IN" altLang="en-US" sz="2000">
                <a:solidFill>
                  <a:srgbClr val="00B0F0"/>
                </a:solidFill>
              </a:rPr>
              <a:t>DBMS in library database:</a:t>
            </a:r>
            <a:endParaRPr lang="en-US" altLang="en-US" sz="2000">
              <a:solidFill>
                <a:srgbClr val="00B0F0"/>
              </a:solidFill>
            </a:endParaRPr>
          </a:p>
          <a:p>
            <a:r>
              <a:rPr lang="en-US" altLang="en-US" sz="2000"/>
              <a:t>Efficient data storage and retrieval</a:t>
            </a:r>
            <a:endParaRPr lang="en-US" altLang="en-US" sz="2000"/>
          </a:p>
          <a:p>
            <a:r>
              <a:rPr lang="en-US" altLang="en-US" sz="2000"/>
              <a:t>Reduces manual errors</a:t>
            </a:r>
            <a:endParaRPr lang="en-US" altLang="en-US" sz="2000"/>
          </a:p>
          <a:p>
            <a:r>
              <a:rPr lang="en-US" altLang="en-US" sz="2000"/>
              <a:t>Faster book search and tracking</a:t>
            </a:r>
            <a:endParaRPr lang="en-US" altLang="en-US" sz="2000"/>
          </a:p>
          <a:p>
            <a:r>
              <a:rPr lang="en-US" altLang="en-US" sz="2000"/>
              <a:t>Better reporting and analysis</a:t>
            </a:r>
            <a:endParaRPr lang="en-US" altLang="en-US" sz="2000"/>
          </a:p>
          <a:p>
            <a:r>
              <a:rPr lang="en-US" altLang="en-US" sz="2000"/>
              <a:t>Improved library management</a:t>
            </a:r>
            <a:endParaRPr lang="en-US" altLang="en-US"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135255" y="133350"/>
            <a:ext cx="4572000" cy="743585"/>
          </a:xfrm>
        </p:spPr>
        <p:txBody>
          <a:bodyPr>
            <a:normAutofit fontScale="90000"/>
          </a:bodyPr>
          <a:p>
            <a:r>
              <a:rPr lang="en-US" altLang="en-US">
                <a:solidFill>
                  <a:srgbClr val="FF0000"/>
                </a:solidFill>
              </a:rPr>
              <a:t>Your Experience/Challenges working</a:t>
            </a:r>
            <a:r>
              <a:rPr lang="en-IN" altLang="en-US">
                <a:solidFill>
                  <a:srgbClr val="FF0000"/>
                </a:solidFill>
              </a:rPr>
              <a:t>:</a:t>
            </a:r>
            <a:endParaRPr lang="en-IN" altLang="en-US">
              <a:solidFill>
                <a:srgbClr val="FF0000"/>
              </a:solidFill>
            </a:endParaRPr>
          </a:p>
        </p:txBody>
      </p:sp>
      <p:sp>
        <p:nvSpPr>
          <p:cNvPr id="4" name="Text Placeholder 3"/>
          <p:cNvSpPr/>
          <p:nvPr>
            <p:ph type="body" idx="1"/>
          </p:nvPr>
        </p:nvSpPr>
        <p:spPr>
          <a:xfrm>
            <a:off x="635" y="828675"/>
            <a:ext cx="12151360" cy="5994400"/>
          </a:xfrm>
        </p:spPr>
        <p:txBody>
          <a:bodyPr/>
          <a:p>
            <a:r>
              <a:rPr lang="en-IN" altLang="en-US" sz="2000"/>
              <a:t>experience :</a:t>
            </a:r>
            <a:endParaRPr lang="en-IN" altLang="en-US" sz="2000"/>
          </a:p>
          <a:p>
            <a:r>
              <a:rPr lang="en-IN" altLang="en-US" sz="2000">
                <a:sym typeface="+mn-ea"/>
              </a:rPr>
              <a:t>to gain real time project experience</a:t>
            </a:r>
            <a:endParaRPr lang="en-IN" altLang="en-US" sz="2000">
              <a:sym typeface="+mn-ea"/>
            </a:endParaRPr>
          </a:p>
          <a:p>
            <a:r>
              <a:rPr lang="en-IN" altLang="en-US" sz="2000">
                <a:sym typeface="+mn-ea"/>
              </a:rPr>
              <a:t>to learn </a:t>
            </a:r>
            <a:r>
              <a:rPr lang="en-US" altLang="en-US" sz="2000">
                <a:sym typeface="+mn-ea"/>
              </a:rPr>
              <a:t>how relational database design and SQL queries can effectively manage library records</a:t>
            </a:r>
            <a:endParaRPr lang="en-US" altLang="en-US" sz="2000">
              <a:sym typeface="+mn-ea"/>
            </a:endParaRPr>
          </a:p>
          <a:p>
            <a:r>
              <a:rPr lang="en-IN" altLang="en-US" sz="2000">
                <a:sym typeface="+mn-ea"/>
              </a:rPr>
              <a:t>handles the  </a:t>
            </a:r>
            <a:r>
              <a:rPr lang="en-US" altLang="en-US" sz="2000">
                <a:sym typeface="+mn-ea"/>
              </a:rPr>
              <a:t>Efficient data storage and retrieval</a:t>
            </a:r>
            <a:r>
              <a:rPr lang="en-IN" altLang="en-US" sz="2000">
                <a:sym typeface="+mn-ea"/>
              </a:rPr>
              <a:t> of library</a:t>
            </a:r>
            <a:endParaRPr lang="en-IN" altLang="en-US" sz="2000">
              <a:sym typeface="+mn-ea"/>
            </a:endParaRPr>
          </a:p>
          <a:p>
            <a:r>
              <a:rPr lang="en-IN" altLang="en-US" sz="2000">
                <a:sym typeface="+mn-ea"/>
              </a:rPr>
              <a:t>instead of use of </a:t>
            </a:r>
            <a:r>
              <a:rPr lang="en-US" altLang="en-US" sz="2000">
                <a:sym typeface="+mn-ea"/>
              </a:rPr>
              <a:t>Traditional library management methods</a:t>
            </a:r>
            <a:r>
              <a:rPr lang="en-IN" altLang="en-US" sz="2000">
                <a:sym typeface="+mn-ea"/>
              </a:rPr>
              <a:t> learned how DBMS helps libraries databases.</a:t>
            </a:r>
            <a:endParaRPr lang="en-US" altLang="en-US" sz="2000">
              <a:sym typeface="+mn-ea"/>
            </a:endParaRPr>
          </a:p>
          <a:p>
            <a:endParaRPr lang="en-US" altLang="en-US" sz="2000">
              <a:sym typeface="+mn-ea"/>
            </a:endParaRPr>
          </a:p>
          <a:p>
            <a:endParaRPr lang="en-US" altLang="en-US" sz="2000">
              <a:sym typeface="+mn-ea"/>
            </a:endParaRPr>
          </a:p>
          <a:p>
            <a:r>
              <a:rPr lang="en-US" altLang="en-US" sz="2000"/>
              <a:t>Challenges</a:t>
            </a:r>
            <a:r>
              <a:rPr lang="en-IN" altLang="en-US" sz="2000"/>
              <a:t>:</a:t>
            </a:r>
            <a:endParaRPr lang="en-US" altLang="en-US" sz="2000"/>
          </a:p>
          <a:p>
            <a:r>
              <a:rPr lang="en-US" altLang="en-US" sz="2000"/>
              <a:t>Defining correct table relationships and ensuring accurate use of foreign keys.</a:t>
            </a:r>
            <a:endParaRPr lang="en-US" altLang="en-US" sz="2000"/>
          </a:p>
          <a:p>
            <a:r>
              <a:rPr lang="en-US" altLang="en-US" sz="2000"/>
              <a:t>Maintaining data consistency with cascading updates and deletes.</a:t>
            </a:r>
            <a:endParaRPr lang="en-US" altLang="en-US" sz="2000"/>
          </a:p>
          <a:p>
            <a:r>
              <a:rPr lang="en-US" altLang="en-US" sz="2000"/>
              <a:t>Writing complex joins for </a:t>
            </a:r>
            <a:r>
              <a:rPr lang="en-IN" altLang="en-US" sz="2000"/>
              <a:t>Analysis </a:t>
            </a:r>
            <a:endParaRPr lang="en-US" altLang="en-US" sz="2000"/>
          </a:p>
          <a:p>
            <a:r>
              <a:rPr lang="en-US" altLang="en-US" sz="2000"/>
              <a:t>Preventing duplicate entries </a:t>
            </a:r>
            <a:r>
              <a:rPr lang="en-IN" altLang="en-US" sz="2000"/>
              <a:t>(values)</a:t>
            </a:r>
            <a:endParaRPr lang="en-US" altLang="en-US" sz="2000"/>
          </a:p>
          <a:p>
            <a:endParaRPr lang="en-US" altLang="en-US"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Placeholder 4" descr="Screenshot (122)"/>
          <p:cNvPicPr>
            <a:picLocks noChangeAspect="1"/>
          </p:cNvPicPr>
          <p:nvPr>
            <p:ph type="pic" idx="2"/>
          </p:nvPr>
        </p:nvPicPr>
        <p:blipFill>
          <a:blip r:embed="rId1"/>
          <a:stretch>
            <a:fillRect/>
          </a:stretch>
        </p:blipFill>
        <p:spPr>
          <a:xfrm>
            <a:off x="3712210" y="1169035"/>
            <a:ext cx="5153025" cy="43338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 panose="02000000000000000000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 panose="02000000000000000000"/>
                <a:ea typeface="Libre Baskerville" panose="02000000000000000000"/>
                <a:cs typeface="Libre Baskerville" panose="02000000000000000000"/>
                <a:sym typeface="Libre Baskerville" panose="02000000000000000000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6575</Words>
  <Application>WPS Presentation</Application>
  <PresentationFormat/>
  <Paragraphs>185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Arial</vt:lpstr>
      <vt:lpstr>SimSun</vt:lpstr>
      <vt:lpstr>Wingdings</vt:lpstr>
      <vt:lpstr>Arial</vt:lpstr>
      <vt:lpstr>Calibri</vt:lpstr>
      <vt:lpstr>Lato Black</vt:lpstr>
      <vt:lpstr>Libre Baskerville</vt:lpstr>
      <vt:lpstr>Microsoft YaHei</vt:lpstr>
      <vt:lpstr>Arial Unicode MS</vt:lpstr>
      <vt:lpstr>Office Theme</vt:lpstr>
      <vt:lpstr>PowerPoint 演示文稿</vt:lpstr>
      <vt:lpstr>PowerPoint 演示文稿</vt:lpstr>
      <vt:lpstr>Agenda:</vt:lpstr>
      <vt:lpstr>Problem Statement:</vt:lpstr>
      <vt:lpstr>Tools Used:</vt:lpstr>
      <vt:lpstr>PowerPoint 演示文稿</vt:lpstr>
      <vt:lpstr>ER Diagram:</vt:lpstr>
      <vt:lpstr>Key analysis questions (use cases):</vt:lpstr>
      <vt:lpstr>Analysis b/w book , book_copies and library_branch:</vt:lpstr>
      <vt:lpstr>Analysis b/w book_loans and borrower:</vt:lpstr>
      <vt:lpstr>Analysis b/w book_loans,book and library_branch:</vt:lpstr>
      <vt:lpstr>Analysis b/w library_branch and book_loans:</vt:lpstr>
      <vt:lpstr>Analysis b/w borrower and book _loans:</vt:lpstr>
      <vt:lpstr>Analysis b/w book , book_author ,book_copies and library_branch:</vt:lpstr>
      <vt:lpstr>Conclusion (Key finding overall):</vt:lpstr>
      <vt:lpstr>Your Experience/Challenges working: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Raghu Ram Aduri</dc:creator>
  <cp:lastModifiedBy>WPS_1677419230</cp:lastModifiedBy>
  <cp:revision>10</cp:revision>
  <dcterms:created xsi:type="dcterms:W3CDTF">2026-03-11T16:06:00Z</dcterms:created>
  <dcterms:modified xsi:type="dcterms:W3CDTF">2026-04-21T15:40:11Z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C61D5D8C2DA941A394C6A5CD2E425010_12</vt:lpwstr>
  </property>
  <property fmtid="{D5CDD505-2E9C-101B-9397-08002B2CF9AE}" pid="3" name="KSOProductBuildVer">
    <vt:lpwstr>1033-12.1.0.25242</vt:lpwstr>
  </property>
</Properties>
</file>